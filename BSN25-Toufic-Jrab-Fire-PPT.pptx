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318"/>
    <a:srgbClr val="0F6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90" autoAdjust="0"/>
    <p:restoredTop sz="94660" autoAdjust="0"/>
  </p:normalViewPr>
  <p:slideViewPr>
    <p:cSldViewPr snapToGrid="0">
      <p:cViewPr varScale="1">
        <p:scale>
          <a:sx n="126" d="100"/>
          <a:sy n="126" d="100"/>
        </p:scale>
        <p:origin x="23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18D9D2-58F4-90D7-1A91-2110F7644E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3DE9-1390-16E6-CED0-CA4E22245C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147B6-92AE-4F15-AF7F-294B8C74EFCB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C9175-74B9-C484-4BE6-09C0DA5B76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D9AA9-A3B0-FE92-47D8-01E2DD3BEC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D41C6-83F2-4994-B25B-5C3D8D93F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8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E6F36-7891-4FFF-9B51-C3ABB29C455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ED9C0-9CBF-4403-828B-586CF8BF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92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D9C0-9CBF-4403-828B-586CF8BFF6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6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6976-66D1-E55E-0431-6C90FBE4E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1801"/>
            <a:ext cx="9144000" cy="1561547"/>
          </a:xfr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67335-82CF-BE8E-CAF9-4B8621D6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4375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7F7-57A0-7D49-9437-F5A3D225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2BE7B70-12ED-4E9F-21B3-B7CFAE996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4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40FE-3D3B-BCD5-B546-9DA8B4F6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EF3B-242F-133F-7EBB-0D225F17A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8C46D-99E9-6E77-9B38-B518C128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76476E6-D653-5E73-0D06-C54C93DBD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09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0FFB-FFBB-A8A2-36A4-C1942D3C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6028-820C-6606-A93E-5545753E1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0C0AD-9EEA-4F64-2443-E4B0F327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4BD4E-4A8A-32DE-2F67-B0CF5E8E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E108CFB-3863-E034-AE1C-2167019C9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1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50CA-1AFB-90BF-02B1-FDA40473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878EB-A233-3751-3114-F5026F7F6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8CED9-4863-1741-30AA-10FC57B62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6F77B-5360-B898-1939-8EA13CF0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AF623-3811-D869-2C72-3A22B5EA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FB1F398-D6B0-47BA-76CA-F3B32CBB8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0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E609-F3A5-6C7F-9DE6-9367D917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BE07D-22FE-44C0-45F4-73FF6F01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0D949-3730-992C-BF57-2ECE40EC9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19D11-8456-867B-D83D-E2058FEF2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4CF61-8B17-255C-3030-E9FEA45B0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ABE76F-F611-9093-5D53-D15921FC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3A44A-DE77-7686-E383-DD8835DC9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01837-911A-8157-A091-8D3761A4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76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E041-4693-B134-E43B-C8BF56AF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8D294-2570-9925-2F3A-E8C70B33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4806-8599-371D-4EA0-23647174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05D823EC-0D15-DCA7-3DAE-3905CA29F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6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AF52E-3275-5B08-612A-974E90A3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E47A6-0691-2784-3EE7-90EDFC1D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27B76E22-FDFC-87DA-7CF5-97BC9A7E1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7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BDAD-0009-48B9-A1BB-7ED05C4B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3523-6A5C-EBD9-78D9-C9C4CBA23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9E635-B83A-92A9-8BC8-84C68461A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9561A-0693-9BFB-D9EE-9D07DEC8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4114A-1B38-8B95-5C00-7A37D393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878642E-B96B-CFC5-D650-3C593A5E9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6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4FE9-1D7A-0CD6-EBAD-AC86D4D7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5FBC8-E2F3-8BA4-BBCA-541EEB1E7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EC8E1-56F8-0D56-FF7E-A13AC7B1C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40834-CA20-04FD-5BFE-87CF8DC1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052DF-28C4-909F-5196-3C207A24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FEC4B44-B472-D33F-F8B4-DC3419A08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48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EDF22-A135-189E-F8A9-594F1A79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B5104-150E-4337-628A-DA7A57FF8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080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75955-E2F0-AE5C-38C9-25FA9BE1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71026-E763-7F19-2B82-F3D4E5E9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DB65E33-F3AC-B45E-3F4D-1CEBFD6BD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FA3E4-3B0E-0F19-ECD3-3CA39CC04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5685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0F956-1221-6967-6DD1-6424AE325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5685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D83E8-111E-7BFE-E7DA-8071C542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1E5E4-8A8D-1D65-3AC1-E0C9AF44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31EFF8-D05B-9D4E-17E3-6F0221F50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7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BA7FB-2782-ABCE-8C37-1DBE1DDB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51FFB-A411-B557-EDB7-90A52AD11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F1AB9-4A19-13C0-7F10-622C01918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43F04-A70E-DA51-8A8A-C2958C228D26}"/>
              </a:ext>
            </a:extLst>
          </p:cNvPr>
          <p:cNvSpPr txBox="1"/>
          <p:nvPr userDrawn="1"/>
        </p:nvSpPr>
        <p:spPr>
          <a:xfrm>
            <a:off x="0" y="6449993"/>
            <a:ext cx="157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2"/>
                </a:solidFill>
              </a:rPr>
              <a:t>IEEE-EMBS BSN’25 </a:t>
            </a:r>
            <a:r>
              <a:rPr lang="es-ES" sz="1000" b="0" dirty="0">
                <a:solidFill>
                  <a:schemeClr val="tx2"/>
                </a:solidFill>
              </a:rPr>
              <a:t>Los Angeles, CA, USA</a:t>
            </a:r>
            <a:endParaRPr lang="es-ES" sz="1100" b="0" dirty="0">
              <a:solidFill>
                <a:schemeClr val="tx2"/>
              </a:solidFill>
            </a:endParaRPr>
          </a:p>
        </p:txBody>
      </p:sp>
      <p:pic>
        <p:nvPicPr>
          <p:cNvPr id="11" name="Picture 10" descr="IEEE EMBS logo, in purple and blue text on a black background">
            <a:extLst>
              <a:ext uri="{FF2B5EF4-FFF2-40B4-BE49-F238E27FC236}">
                <a16:creationId xmlns:a16="http://schemas.microsoft.com/office/drawing/2014/main" id="{2C7D7586-8CFF-F698-0F90-75CD009063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7" t="17075" r="9734" b="15714"/>
          <a:stretch>
            <a:fillRect/>
          </a:stretch>
        </p:blipFill>
        <p:spPr>
          <a:xfrm>
            <a:off x="8724900" y="6263765"/>
            <a:ext cx="1421130" cy="579240"/>
          </a:xfrm>
          <a:prstGeom prst="rect">
            <a:avLst/>
          </a:prstGeom>
        </p:spPr>
      </p:pic>
      <p:pic>
        <p:nvPicPr>
          <p:cNvPr id="16" name="Picture 15" descr="BSN2025 logo, A blue and white city skyline of Los Angeles. CA">
            <a:extLst>
              <a:ext uri="{FF2B5EF4-FFF2-40B4-BE49-F238E27FC236}">
                <a16:creationId xmlns:a16="http://schemas.microsoft.com/office/drawing/2014/main" id="{ABA42CD3-54EA-5B35-24ED-5DA763D208F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85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030" y="6167260"/>
            <a:ext cx="1574800" cy="69991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920A2-8BE3-713C-4AA6-91E4DF541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950" y="6470650"/>
            <a:ext cx="908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0830DCD0-B728-498F-9309-7017F614F5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9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0BF8-802D-3828-2C9C-3A059F3B8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515"/>
            <a:ext cx="9144000" cy="855869"/>
          </a:xfrm>
        </p:spPr>
        <p:txBody>
          <a:bodyPr>
            <a:noAutofit/>
          </a:bodyPr>
          <a:lstStyle/>
          <a:p>
            <a:r>
              <a:rPr lang="en-CA" sz="2800" b="0" dirty="0">
                <a:solidFill>
                  <a:schemeClr val="tx1"/>
                </a:solidFill>
                <a:latin typeface="Helvetica" pitchFamily="2" charset="0"/>
              </a:rPr>
              <a:t>Hybrid ST-GCN/HMM Tremor Detector for a Wearable MR-Fluid Exoskeleton</a:t>
            </a:r>
            <a:endParaRPr lang="en-US" sz="2800" dirty="0"/>
          </a:p>
        </p:txBody>
      </p:sp>
      <p:pic>
        <p:nvPicPr>
          <p:cNvPr id="5" name="Picture 4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7DC54DD7-8938-21AB-023A-130E1CB2C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" y="5950938"/>
            <a:ext cx="1926200" cy="4631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A62E9D-C286-E77E-6843-B164C5A3C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616" y="0"/>
            <a:ext cx="889384" cy="8893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050AE19-B20D-8378-041F-4542B353E655}"/>
              </a:ext>
            </a:extLst>
          </p:cNvPr>
          <p:cNvSpPr txBox="1">
            <a:spLocks/>
          </p:cNvSpPr>
          <p:nvPr/>
        </p:nvSpPr>
        <p:spPr>
          <a:xfrm>
            <a:off x="3154477" y="889384"/>
            <a:ext cx="5883045" cy="6566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300" b="0" dirty="0">
                <a:solidFill>
                  <a:schemeClr val="tx1"/>
                </a:solidFill>
                <a:latin typeface="Helvetica" pitchFamily="2" charset="0"/>
              </a:rPr>
              <a:t>Toufic Jrab</a:t>
            </a:r>
            <a:r>
              <a:rPr lang="en-US" sz="1300" b="0" baseline="30000" dirty="0">
                <a:solidFill>
                  <a:schemeClr val="tx1"/>
                </a:solidFill>
                <a:latin typeface="Helvetica" pitchFamily="2" charset="0"/>
              </a:rPr>
              <a:t>1</a:t>
            </a:r>
          </a:p>
          <a:p>
            <a:pPr algn="ctr">
              <a:lnSpc>
                <a:spcPct val="100000"/>
              </a:lnSpc>
            </a:pPr>
            <a:r>
              <a:rPr lang="en-US" sz="1300" b="0" baseline="30000" dirty="0">
                <a:solidFill>
                  <a:schemeClr val="tx1"/>
                </a:solidFill>
                <a:latin typeface="Helvetica" pitchFamily="2" charset="0"/>
              </a:rPr>
              <a:t>1</a:t>
            </a:r>
            <a:r>
              <a:rPr lang="en-US" sz="1300" dirty="0">
                <a:solidFill>
                  <a:schemeClr val="tx1"/>
                </a:solidFill>
                <a:latin typeface="Helvetica" pitchFamily="2" charset="0"/>
              </a:rPr>
              <a:t>Department of Bioengineering, McGill University, QC Canada</a:t>
            </a:r>
          </a:p>
          <a:p>
            <a:pPr algn="ctr">
              <a:lnSpc>
                <a:spcPct val="100000"/>
              </a:lnSpc>
            </a:pPr>
            <a:r>
              <a:rPr lang="en-US" sz="1300" dirty="0" err="1">
                <a:solidFill>
                  <a:schemeClr val="tx1"/>
                </a:solidFill>
                <a:latin typeface="Helvetica" pitchFamily="2" charset="0"/>
              </a:rPr>
              <a:t>toufic.jrab@mail.mcgill.ca</a:t>
            </a:r>
            <a:endParaRPr lang="en-US" sz="1300" dirty="0">
              <a:solidFill>
                <a:schemeClr val="tx1"/>
              </a:solidFill>
              <a:latin typeface="Helvetica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371D0AF-7458-2F73-7FB7-AEC5E03F6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1511" r="77953"/>
          <a:stretch/>
        </p:blipFill>
        <p:spPr>
          <a:xfrm>
            <a:off x="1524000" y="1796382"/>
            <a:ext cx="2252353" cy="2631679"/>
          </a:xfrm>
          <a:prstGeom prst="rect">
            <a:avLst/>
          </a:prstGeom>
        </p:spPr>
      </p:pic>
      <p:pic>
        <p:nvPicPr>
          <p:cNvPr id="11" name="Picture 10" descr="A drawing of a robot arm&#10;&#10;AI-generated content may be incorrect.">
            <a:extLst>
              <a:ext uri="{FF2B5EF4-FFF2-40B4-BE49-F238E27FC236}">
                <a16:creationId xmlns:a16="http://schemas.microsoft.com/office/drawing/2014/main" id="{8FD12D25-4B81-CF2B-DB3D-E7418DCD92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" t="12522" r="-1"/>
          <a:stretch/>
        </p:blipFill>
        <p:spPr>
          <a:xfrm>
            <a:off x="6095999" y="2259383"/>
            <a:ext cx="1632857" cy="970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E1073B-47A4-B682-2E15-CA50188E752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695" t="22218" r="69060" b="72407"/>
          <a:stretch/>
        </p:blipFill>
        <p:spPr>
          <a:xfrm>
            <a:off x="2652014" y="5033579"/>
            <a:ext cx="1278718" cy="79105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0608737-36F7-84F2-6044-5D9689D191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3432" t="11511" r="10981"/>
          <a:stretch/>
        </p:blipFill>
        <p:spPr>
          <a:xfrm>
            <a:off x="6982692" y="1796382"/>
            <a:ext cx="3635642" cy="263167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0F8159E-B035-849B-F810-FAF78839BC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047" t="59707" r="36920"/>
          <a:stretch/>
        </p:blipFill>
        <p:spPr>
          <a:xfrm>
            <a:off x="3776353" y="3229759"/>
            <a:ext cx="4191990" cy="119830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8CEEB33-0F22-C65E-8921-6432FAD00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867" t="11511" r="39264" b="39564"/>
          <a:stretch/>
        </p:blipFill>
        <p:spPr>
          <a:xfrm>
            <a:off x="3655808" y="1796382"/>
            <a:ext cx="4073049" cy="14550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9FEA49-D9F8-6330-071F-57F42ACFC1C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5076" t="22218" r="20173" b="72407"/>
          <a:stretch/>
        </p:blipFill>
        <p:spPr>
          <a:xfrm>
            <a:off x="6675583" y="5033579"/>
            <a:ext cx="2814737" cy="7910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9E11D39-6E82-A744-8438-3727BA76D45C}"/>
              </a:ext>
            </a:extLst>
          </p:cNvPr>
          <p:cNvSpPr txBox="1"/>
          <p:nvPr/>
        </p:nvSpPr>
        <p:spPr>
          <a:xfrm>
            <a:off x="926276" y="4605644"/>
            <a:ext cx="15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Our Solution: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8D7866FC-9906-9451-84F0-5DB78AA5AD56}"/>
              </a:ext>
            </a:extLst>
          </p:cNvPr>
          <p:cNvSpPr/>
          <p:nvPr/>
        </p:nvSpPr>
        <p:spPr>
          <a:xfrm rot="16200000">
            <a:off x="6000028" y="5589469"/>
            <a:ext cx="191941" cy="37503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13F15D2E-990D-1AD1-D6A5-97E0EB518BD1}"/>
              </a:ext>
            </a:extLst>
          </p:cNvPr>
          <p:cNvSpPr/>
          <p:nvPr/>
        </p:nvSpPr>
        <p:spPr>
          <a:xfrm rot="5400000">
            <a:off x="7423742" y="4942033"/>
            <a:ext cx="191941" cy="37503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AED56-BB5C-1FAB-2405-C188C99735C3}"/>
              </a:ext>
            </a:extLst>
          </p:cNvPr>
          <p:cNvSpPr txBox="1"/>
          <p:nvPr/>
        </p:nvSpPr>
        <p:spPr>
          <a:xfrm>
            <a:off x="4849091" y="5815332"/>
            <a:ext cx="25076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Bayesian network</a:t>
            </a:r>
            <a:r>
              <a:rPr lang="en-CA" sz="1600" dirty="0">
                <a:solidFill>
                  <a:srgbClr val="000000"/>
                </a:solidFill>
                <a:latin typeface="Helvetica" pitchFamily="2" charset="0"/>
              </a:rPr>
              <a:t>:</a:t>
            </a:r>
          </a:p>
          <a:p>
            <a:pPr algn="ctr"/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adds noise-robust priors</a:t>
            </a:r>
            <a:endParaRPr lang="en-US" sz="1600" dirty="0"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B0A3CC-BD87-D134-1B3D-C3747DD6ABEA}"/>
              </a:ext>
            </a:extLst>
          </p:cNvPr>
          <p:cNvSpPr txBox="1"/>
          <p:nvPr/>
        </p:nvSpPr>
        <p:spPr>
          <a:xfrm>
            <a:off x="6106031" y="4211230"/>
            <a:ext cx="32456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two-state Hidden Markov Model</a:t>
            </a:r>
            <a:r>
              <a:rPr lang="en-CA" sz="1600" dirty="0">
                <a:solidFill>
                  <a:srgbClr val="000000"/>
                </a:solidFill>
                <a:latin typeface="Helvetica" pitchFamily="2" charset="0"/>
              </a:rPr>
              <a:t>:</a:t>
            </a:r>
          </a:p>
          <a:p>
            <a:pPr algn="ctr"/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enforces physiological dwell time</a:t>
            </a:r>
            <a:endParaRPr lang="en-US" sz="1600" dirty="0">
              <a:latin typeface="Helvetica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1C33039-9840-79FB-C97F-7E8942A267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2182" t="22218" r="44924" b="72407"/>
          <a:stretch/>
        </p:blipFill>
        <p:spPr>
          <a:xfrm>
            <a:off x="5209305" y="5033579"/>
            <a:ext cx="1466278" cy="791053"/>
          </a:xfrm>
          <a:prstGeom prst="rect">
            <a:avLst/>
          </a:prstGeom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B2BE70D7-3589-516D-57D9-FFB65ED76EA6}"/>
              </a:ext>
            </a:extLst>
          </p:cNvPr>
          <p:cNvSpPr/>
          <p:nvPr/>
        </p:nvSpPr>
        <p:spPr>
          <a:xfrm rot="5400000">
            <a:off x="4565605" y="4942034"/>
            <a:ext cx="191941" cy="37503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856E78-72AF-C78D-970E-14D07E321500}"/>
              </a:ext>
            </a:extLst>
          </p:cNvPr>
          <p:cNvSpPr txBox="1"/>
          <p:nvPr/>
        </p:nvSpPr>
        <p:spPr>
          <a:xfrm>
            <a:off x="3417429" y="4206959"/>
            <a:ext cx="24802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 b="1" dirty="0" err="1">
                <a:solidFill>
                  <a:srgbClr val="000000"/>
                </a:solidFill>
                <a:latin typeface="Helvetica" pitchFamily="2" charset="0"/>
              </a:rPr>
              <a:t>S</a:t>
            </a:r>
            <a:r>
              <a:rPr lang="en-CA" sz="1600" b="1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patio</a:t>
            </a:r>
            <a:r>
              <a:rPr lang="en-CA" sz="16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-temporal graph convolutional network</a:t>
            </a:r>
            <a:r>
              <a:rPr lang="en-CA" sz="1600" dirty="0">
                <a:solidFill>
                  <a:srgbClr val="000000"/>
                </a:solidFill>
                <a:latin typeface="Helvetica" pitchFamily="2" charset="0"/>
              </a:rPr>
              <a:t>:</a:t>
            </a:r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</a:p>
          <a:p>
            <a:pPr algn="ctr"/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learns motion patterns</a:t>
            </a:r>
            <a:endParaRPr lang="en-US" sz="1600" dirty="0">
              <a:latin typeface="Helvetica" pitchFamily="2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64A209B-A9FB-6E43-5242-EBFEC5E0A1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0939" t="22218" r="57818" b="72407"/>
          <a:stretch/>
        </p:blipFill>
        <p:spPr>
          <a:xfrm>
            <a:off x="3930732" y="5033579"/>
            <a:ext cx="1278573" cy="79105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B90590E-9697-DD26-1D89-8F5106667E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1348" t="32807" r="29843" b="32874"/>
          <a:stretch/>
        </p:blipFill>
        <p:spPr>
          <a:xfrm rot="16200000">
            <a:off x="9305721" y="3956919"/>
            <a:ext cx="791053" cy="398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2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 animBg="1"/>
      <p:bldP spid="27" grpId="0" animBg="1"/>
      <p:bldP spid="28" grpId="0"/>
      <p:bldP spid="30" grpId="0"/>
      <p:bldP spid="22" grpId="0" animBg="1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C6553-2365-C3E4-047A-44AA987A1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30DCD0-B728-498F-9309-7017F614F56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6A01E-90F3-9D01-42A2-8685404C6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05" t="12005" r="52587" b="61471"/>
          <a:stretch/>
        </p:blipFill>
        <p:spPr>
          <a:xfrm>
            <a:off x="6954435" y="2522662"/>
            <a:ext cx="3503048" cy="3577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11940B-DE8D-8E65-C5FE-59EEA1C19C62}"/>
              </a:ext>
            </a:extLst>
          </p:cNvPr>
          <p:cNvSpPr txBox="1"/>
          <p:nvPr/>
        </p:nvSpPr>
        <p:spPr>
          <a:xfrm>
            <a:off x="579242" y="229377"/>
            <a:ext cx="2997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Briefly…</a:t>
            </a:r>
          </a:p>
        </p:txBody>
      </p:sp>
      <p:pic>
        <p:nvPicPr>
          <p:cNvPr id="7" name="Picture 6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C8AF9B03-9008-6FBC-3663-02AC764B2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5" b="4827"/>
          <a:stretch/>
        </p:blipFill>
        <p:spPr>
          <a:xfrm>
            <a:off x="298233" y="3531615"/>
            <a:ext cx="6295419" cy="2653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06FCF5-5607-0DF5-8E56-4DD104DF52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795" t="23884" r="33750" b="63394"/>
          <a:stretch/>
        </p:blipFill>
        <p:spPr>
          <a:xfrm>
            <a:off x="283288" y="1140302"/>
            <a:ext cx="4109414" cy="2022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A9996A-BAC5-F8EB-099A-E9F968F39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88" t="6883" r="29646" b="76116"/>
          <a:stretch/>
        </p:blipFill>
        <p:spPr>
          <a:xfrm>
            <a:off x="4112118" y="1532449"/>
            <a:ext cx="2497445" cy="1341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B8FBF-38C0-EC09-5A63-A9D23A61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40" t="19935" r="6820" b="66546"/>
          <a:stretch/>
        </p:blipFill>
        <p:spPr>
          <a:xfrm>
            <a:off x="6710253" y="843058"/>
            <a:ext cx="4770707" cy="1873977"/>
          </a:xfrm>
          <a:prstGeom prst="rect">
            <a:avLst/>
          </a:prstGeom>
        </p:spPr>
      </p:pic>
      <p:sp>
        <p:nvSpPr>
          <p:cNvPr id="12" name="Rectangle: Rounded Corners 6">
            <a:extLst>
              <a:ext uri="{FF2B5EF4-FFF2-40B4-BE49-F238E27FC236}">
                <a16:creationId xmlns:a16="http://schemas.microsoft.com/office/drawing/2014/main" id="{9F471954-BFD3-BA70-9C36-C6DF3A21DC4D}"/>
              </a:ext>
            </a:extLst>
          </p:cNvPr>
          <p:cNvSpPr/>
          <p:nvPr/>
        </p:nvSpPr>
        <p:spPr>
          <a:xfrm>
            <a:off x="267753" y="987440"/>
            <a:ext cx="5966657" cy="2022271"/>
          </a:xfrm>
          <a:prstGeom prst="roundRect">
            <a:avLst>
              <a:gd name="adj" fmla="val 2593"/>
            </a:avLst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997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F1ECE7-4381-A73B-BB38-2F223C87BF5F}"/>
              </a:ext>
            </a:extLst>
          </p:cNvPr>
          <p:cNvSpPr txBox="1"/>
          <p:nvPr/>
        </p:nvSpPr>
        <p:spPr>
          <a:xfrm>
            <a:off x="542547" y="842035"/>
            <a:ext cx="1292583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194400" rIns="97200" rtlCol="0">
            <a:spAutoFit/>
          </a:bodyPr>
          <a:lstStyle/>
          <a:p>
            <a:r>
              <a:rPr lang="en-GB" sz="1600" b="1" dirty="0">
                <a:solidFill>
                  <a:srgbClr val="C00000"/>
                </a:solidFill>
                <a:latin typeface="Helvetica" pitchFamily="2" charset="0"/>
                <a:cs typeface="Arial" panose="020B0604020202020204" pitchFamily="34" charset="0"/>
              </a:rPr>
              <a:t>Dataset</a:t>
            </a:r>
          </a:p>
        </p:txBody>
      </p:sp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F2E51132-24DF-97F6-353E-E25BA02435A3}"/>
              </a:ext>
            </a:extLst>
          </p:cNvPr>
          <p:cNvSpPr/>
          <p:nvPr/>
        </p:nvSpPr>
        <p:spPr>
          <a:xfrm>
            <a:off x="258634" y="3242715"/>
            <a:ext cx="6381409" cy="2987471"/>
          </a:xfrm>
          <a:prstGeom prst="roundRect">
            <a:avLst>
              <a:gd name="adj" fmla="val 2593"/>
            </a:avLst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99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300A9-7F0A-A041-40F2-57FE56484AC1}"/>
              </a:ext>
            </a:extLst>
          </p:cNvPr>
          <p:cNvSpPr txBox="1"/>
          <p:nvPr/>
        </p:nvSpPr>
        <p:spPr>
          <a:xfrm>
            <a:off x="573026" y="3112919"/>
            <a:ext cx="1292583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194400" rIns="97200" rtlCol="0">
            <a:spAutoFit/>
          </a:bodyPr>
          <a:lstStyle/>
          <a:p>
            <a:r>
              <a:rPr lang="en-GB" sz="1600" b="1" dirty="0">
                <a:solidFill>
                  <a:srgbClr val="C00000"/>
                </a:solidFill>
                <a:latin typeface="Helvetica" pitchFamily="2" charset="0"/>
                <a:cs typeface="Arial" panose="020B0604020202020204" pitchFamily="34" charset="0"/>
              </a:rPr>
              <a:t>Pipeline</a:t>
            </a:r>
          </a:p>
        </p:txBody>
      </p:sp>
      <p:sp>
        <p:nvSpPr>
          <p:cNvPr id="17" name="Rectangle: Rounded Corners 6">
            <a:extLst>
              <a:ext uri="{FF2B5EF4-FFF2-40B4-BE49-F238E27FC236}">
                <a16:creationId xmlns:a16="http://schemas.microsoft.com/office/drawing/2014/main" id="{AE66AE75-8A97-C4FD-8A13-5DEA6EDCF161}"/>
              </a:ext>
            </a:extLst>
          </p:cNvPr>
          <p:cNvSpPr/>
          <p:nvPr/>
        </p:nvSpPr>
        <p:spPr>
          <a:xfrm>
            <a:off x="6878746" y="709149"/>
            <a:ext cx="4770708" cy="5521037"/>
          </a:xfrm>
          <a:prstGeom prst="roundRect">
            <a:avLst>
              <a:gd name="adj" fmla="val 2593"/>
            </a:avLst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99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30D67-697F-D881-0101-FFCEAD4A8736}"/>
              </a:ext>
            </a:extLst>
          </p:cNvPr>
          <p:cNvSpPr txBox="1"/>
          <p:nvPr/>
        </p:nvSpPr>
        <p:spPr>
          <a:xfrm>
            <a:off x="7296874" y="539872"/>
            <a:ext cx="1420406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194400" rIns="97200" rtlCol="0">
            <a:spAutoFit/>
          </a:bodyPr>
          <a:lstStyle/>
          <a:p>
            <a:r>
              <a:rPr lang="en-GB" sz="1600" b="1" dirty="0">
                <a:solidFill>
                  <a:srgbClr val="C00000"/>
                </a:solidFill>
                <a:latin typeface="Helvetica" pitchFamily="2" charset="0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9" name="Picture 18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128740B6-661D-8465-416F-51D333B09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742" y="6367671"/>
            <a:ext cx="1926200" cy="4631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397B001-148D-EC7D-BD8B-895C201179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850" y="0"/>
            <a:ext cx="709149" cy="70914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56E0DD6-C01C-B259-B364-8945F9C3D81F}"/>
              </a:ext>
            </a:extLst>
          </p:cNvPr>
          <p:cNvSpPr/>
          <p:nvPr/>
        </p:nvSpPr>
        <p:spPr>
          <a:xfrm>
            <a:off x="9611360" y="878426"/>
            <a:ext cx="451880" cy="15599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8AA17-411F-EF1D-254D-457AE85E72C0}"/>
              </a:ext>
            </a:extLst>
          </p:cNvPr>
          <p:cNvSpPr txBox="1"/>
          <p:nvPr/>
        </p:nvSpPr>
        <p:spPr>
          <a:xfrm>
            <a:off x="9516954" y="2471340"/>
            <a:ext cx="2085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  <a:latin typeface="Helvetica" pitchFamily="2" charset="0"/>
              </a:rPr>
              <a:t>Accuracy+</a:t>
            </a:r>
          </a:p>
          <a:p>
            <a:pPr algn="r"/>
            <a:r>
              <a:rPr lang="en-US" sz="1600" dirty="0">
                <a:solidFill>
                  <a:srgbClr val="C00000"/>
                </a:solidFill>
                <a:latin typeface="Helvetica" pitchFamily="2" charset="0"/>
              </a:rPr>
              <a:t>22k params+</a:t>
            </a:r>
          </a:p>
          <a:p>
            <a:pPr algn="r"/>
            <a:r>
              <a:rPr lang="en-US" sz="1600" dirty="0">
                <a:solidFill>
                  <a:srgbClr val="C00000"/>
                </a:solidFill>
                <a:latin typeface="Helvetica" pitchFamily="2" charset="0"/>
              </a:rPr>
              <a:t>low latency!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C38F80-B93D-116D-F185-5268EEF68548}"/>
              </a:ext>
            </a:extLst>
          </p:cNvPr>
          <p:cNvSpPr/>
          <p:nvPr/>
        </p:nvSpPr>
        <p:spPr>
          <a:xfrm>
            <a:off x="10826146" y="2153920"/>
            <a:ext cx="451880" cy="284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5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3" grpId="0"/>
      <p:bldP spid="24" grpId="0" animBg="1"/>
    </p:bldLst>
  </p:timing>
</p:sld>
</file>

<file path=ppt/theme/theme1.xml><?xml version="1.0" encoding="utf-8"?>
<a:theme xmlns:a="http://schemas.openxmlformats.org/drawingml/2006/main" name="BSN25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1464</TotalTime>
  <Words>73</Words>
  <Application>Microsoft Macintosh PowerPoint</Application>
  <PresentationFormat>Widescreen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BSN25 Theme</vt:lpstr>
      <vt:lpstr>Hybrid ST-GCN/HMM Tremor Detector for a Wearable MR-Fluid Exoskeleton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Mack Hough</dc:creator>
  <cp:lastModifiedBy>Toufic Jrab</cp:lastModifiedBy>
  <cp:revision>124</cp:revision>
  <dcterms:created xsi:type="dcterms:W3CDTF">2024-01-16T19:28:58Z</dcterms:created>
  <dcterms:modified xsi:type="dcterms:W3CDTF">2025-12-02T02:31:10Z</dcterms:modified>
</cp:coreProperties>
</file>